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8"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2T19:12:36.340"/>
    </inkml:context>
    <inkml:brush xml:id="br0">
      <inkml:brushProperty name="width" value="0.05" units="cm"/>
      <inkml:brushProperty name="height" value="0.0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2T19:11:51.547"/>
    </inkml:context>
    <inkml:brush xml:id="br0">
      <inkml:brushProperty name="width" value="0.05" units="cm"/>
      <inkml:brushProperty name="height" value="0.05" units="cm"/>
    </inkml:brush>
  </inkml:definitions>
  <inkml:trace contextRef="#ctx0" brushRef="#br0">32 1031 24575,'1'0'0,"0"0"0,0 0 0,0 1 0,0-1 0,-1 1 0,1-1 0,0 1 0,0-1 0,0 1 0,0-1 0,-1 1 0,1 0 0,0-1 0,-1 1 0,1 0 0,0 0 0,-1-1 0,1 1 0,-1 0 0,0 0 0,1 0 0,-1 0 0,1 0 0,-1 0 0,0 0 0,0 0 0,1 1 0,3 33 0,-3-30 0,1 46 0,-2 1 0,-3-1 0,-9 55 0,8-74 0,0 0 0,2 0 0,2 0 0,1 0 0,1 0 0,10 48 0,-9-61 0,10 40 0,-12-56 0,0 0 0,1 0 0,-1 0 0,0 0 0,1 0 0,0 0 0,-1 0 0,1 0 0,0-1 0,1 1 0,-1-1 0,0 1 0,1-1 0,3 2 0,-6-4 0,1 0 0,-1 0 0,1 0 0,0 0 0,-1 0 0,1-1 0,-1 1 0,1 0 0,-1 0 0,1-1 0,-1 1 0,1-1 0,-1 1 0,1 0 0,-1-1 0,0 1 0,1-1 0,-1 1 0,1-1 0,-1 1 0,0-1 0,0 1 0,1-1 0,-1 1 0,0-1 0,0 1 0,0-1 0,1 0 0,-1 1 0,0-1 0,0 1 0,0-1 0,0 0 0,0 1 0,0-1 0,0 1 0,-1-1 0,5-28 0,-4 29 0,0-31 0,-1 1 0,-2 0 0,-6-32 0,-3-44 0,9-359 0,5 242 0,-3 212 0,1 1 0,-2-1 0,1 1 0,-1-1 0,-1 1 0,0 0 0,0 0 0,-1 0 0,-1 1 0,1-1 0,-2 1 0,-6-10 0,7 9 0,-1 0 0,2-1 0,0 0 0,0 0 0,1 0 0,0 0 0,1 0 0,-2-18 0,2-10 0,5-47 0,-1 20 0,-2 53 0,1 0 0,0 1 0,0-1 0,1 0 0,1 1 0,0 0 0,1-1 0,0 1 0,9-17 0,-9 23 0,0 0 0,0 0 0,1 1 0,-1-1 0,1 1 0,0 0 0,1 0 0,-1 0 0,1 1 0,0 0 0,0 0 0,0 0 0,1 1 0,-1 0 0,1 0 0,0 1 0,0 0 0,8-2 0,18 0 0,0 1 0,0 1 0,0 2 0,39 4 0,19 0 0,-14-2 0,79 12 0,-81-4 0,4 0 0,99 25 0,-135-24 0,1-2 0,1-3 0,50 2 0,137-8 0,-93-3 0,-68 3 0,120-15 0,-123 8 0,1 2 0,70 6 0,-58 0 0,-58-3 0,-1 0 0,0-2 0,0 0 0,30-10 0,-27 6 0,0 2 0,0 1 0,28-2 0,268 6 0,-150 3 0,1942-2 0,-1933-13 0,2-1 0,-104 15 0,125-17 0,-73 7 0,-56 6 0,-63 1 0,-1 0 0,1 0 0,0-1 0,-1-1 0,16-6 0,-15 5 0,1 0 0,-1 1 0,1 0 0,13-1 0,48-1 0,137 6 0,-84 3 0,-1-4 0,127 3 0,-137 10 0,35 1 0,-99-9 0,0 1 0,93 23 0,-18-3 0,-34-15-98,178-4 1,-175-7-1073,-69 1-5656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D7291F-6BDA-4071-AB66-F550A509AE7B}" type="datetimeFigureOut">
              <a:rPr lang="en-GB" smtClean="0"/>
              <a:t>12/12/2021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1817496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7291F-6BDA-4071-AB66-F550A509AE7B}" type="datetimeFigureOut">
              <a:rPr lang="en-GB" smtClean="0"/>
              <a:t>12/12/2021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1789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D7291F-6BDA-4071-AB66-F550A509AE7B}" type="datetimeFigureOut">
              <a:rPr lang="en-GB" smtClean="0"/>
              <a:t>12/12/2021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1041869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4226606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D7291F-6BDA-4071-AB66-F550A509AE7B}" type="datetimeFigureOut">
              <a:rPr lang="en-GB" smtClean="0"/>
              <a:t>12/12/2021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3477917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D7291F-6BDA-4071-AB66-F550A509AE7B}" type="datetimeFigureOut">
              <a:rPr lang="en-GB" smtClean="0"/>
              <a:t>12/12/2021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1318093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D7291F-6BDA-4071-AB66-F550A509AE7B}" type="datetimeFigureOut">
              <a:rPr lang="en-GB" smtClean="0"/>
              <a:t>12/12/2021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554349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2894981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3096415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953650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3178674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83715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D7291F-6BDA-4071-AB66-F550A509AE7B}" type="datetimeFigureOut">
              <a:rPr lang="en-GB" smtClean="0"/>
              <a:t>12/12/2021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94731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2D7291F-6BDA-4071-AB66-F550A509AE7B}" type="datetimeFigureOut">
              <a:rPr lang="en-GB" smtClean="0"/>
              <a:t>12/12/2021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3872827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2D7291F-6BDA-4071-AB66-F550A509AE7B}" type="datetimeFigureOut">
              <a:rPr lang="en-GB" smtClean="0"/>
              <a:t>12/12/2021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2021120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7291F-6BDA-4071-AB66-F550A509AE7B}" type="datetimeFigureOut">
              <a:rPr lang="en-GB" smtClean="0"/>
              <a:t>12/12/2021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3332849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7291F-6BDA-4071-AB66-F550A509AE7B}" type="datetimeFigureOut">
              <a:rPr lang="en-GB" smtClean="0"/>
              <a:t>12/12/2021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2F6D45F-12A8-4F66-BA70-1890AEC1B01E}" type="slidenum">
              <a:rPr lang="en-GB" smtClean="0"/>
              <a:t>‹#›</a:t>
            </a:fld>
            <a:endParaRPr lang="en-GB"/>
          </a:p>
        </p:txBody>
      </p:sp>
    </p:spTree>
    <p:extLst>
      <p:ext uri="{BB962C8B-B14F-4D97-AF65-F5344CB8AC3E}">
        <p14:creationId xmlns:p14="http://schemas.microsoft.com/office/powerpoint/2010/main" val="1346522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2D7291F-6BDA-4071-AB66-F550A509AE7B}" type="datetimeFigureOut">
              <a:rPr lang="en-GB" smtClean="0"/>
              <a:t>12/12/2021</a:t>
            </a:fld>
            <a:endParaRPr lang="en-GB"/>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2F6D45F-12A8-4F66-BA70-1890AEC1B01E}" type="slidenum">
              <a:rPr lang="en-GB" smtClean="0"/>
              <a:t>‹#›</a:t>
            </a:fld>
            <a:endParaRPr lang="en-GB"/>
          </a:p>
        </p:txBody>
      </p:sp>
    </p:spTree>
    <p:extLst>
      <p:ext uri="{BB962C8B-B14F-4D97-AF65-F5344CB8AC3E}">
        <p14:creationId xmlns:p14="http://schemas.microsoft.com/office/powerpoint/2010/main" val="245694407"/>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mailto:11.5secs@127.3mph" TargetMode="External"/><Relationship Id="rId7" Type="http://schemas.openxmlformats.org/officeDocument/2006/relationships/image" Target="../media/image8.png"/><Relationship Id="rId2" Type="http://schemas.openxmlformats.org/officeDocument/2006/relationships/hyperlink" Target="mailto:9.9secs@146mph" TargetMode="Externa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hyperlink" Target="mailto:5339.583N@69.291m/s" TargetMode="External"/><Relationship Id="rId4" Type="http://schemas.openxmlformats.org/officeDocument/2006/relationships/hyperlink" Target="mailto:544.3kg@150mph"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Vehicle speeding down a mountain road at dusk">
            <a:extLst>
              <a:ext uri="{FF2B5EF4-FFF2-40B4-BE49-F238E27FC236}">
                <a16:creationId xmlns:a16="http://schemas.microsoft.com/office/drawing/2014/main" id="{6E62E6B0-A287-4305-B58B-FB631FA9112D}"/>
              </a:ext>
            </a:extLst>
          </p:cNvPr>
          <p:cNvPicPr>
            <a:picLocks noChangeAspect="1"/>
          </p:cNvPicPr>
          <p:nvPr/>
        </p:nvPicPr>
        <p:blipFill rotWithShape="1">
          <a:blip r:embed="rId3"/>
          <a:srcRect t="15755"/>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7C6885-DEDA-4239-897E-96A9A6094DDA}"/>
              </a:ext>
            </a:extLst>
          </p:cNvPr>
          <p:cNvSpPr>
            <a:spLocks noGrp="1"/>
          </p:cNvSpPr>
          <p:nvPr>
            <p:ph type="ctrTitle"/>
          </p:nvPr>
        </p:nvSpPr>
        <p:spPr>
          <a:xfrm>
            <a:off x="1595269" y="1122363"/>
            <a:ext cx="9001462" cy="2387600"/>
          </a:xfrm>
        </p:spPr>
        <p:txBody>
          <a:bodyPr>
            <a:normAutofit/>
          </a:bodyPr>
          <a:lstStyle/>
          <a:p>
            <a:r>
              <a:rPr lang="en-GB" dirty="0"/>
              <a:t>Objectively quantifying car performance on track</a:t>
            </a:r>
          </a:p>
        </p:txBody>
      </p:sp>
      <p:sp>
        <p:nvSpPr>
          <p:cNvPr id="3" name="Subtitle 2">
            <a:extLst>
              <a:ext uri="{FF2B5EF4-FFF2-40B4-BE49-F238E27FC236}">
                <a16:creationId xmlns:a16="http://schemas.microsoft.com/office/drawing/2014/main" id="{F25C6BCD-5F9F-4000-8ABD-19DD04647250}"/>
              </a:ext>
            </a:extLst>
          </p:cNvPr>
          <p:cNvSpPr>
            <a:spLocks noGrp="1"/>
          </p:cNvSpPr>
          <p:nvPr>
            <p:ph type="subTitle" idx="1"/>
          </p:nvPr>
        </p:nvSpPr>
        <p:spPr>
          <a:xfrm>
            <a:off x="1595269" y="3602038"/>
            <a:ext cx="9001462" cy="1655762"/>
          </a:xfrm>
        </p:spPr>
        <p:txBody>
          <a:bodyPr>
            <a:normAutofit/>
          </a:bodyPr>
          <a:lstStyle/>
          <a:p>
            <a:endParaRPr lang="en-GB"/>
          </a:p>
        </p:txBody>
      </p:sp>
    </p:spTree>
    <p:extLst>
      <p:ext uri="{BB962C8B-B14F-4D97-AF65-F5344CB8AC3E}">
        <p14:creationId xmlns:p14="http://schemas.microsoft.com/office/powerpoint/2010/main" val="3084091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B7037-4268-44B1-A0EA-C006C3BA0E48}"/>
              </a:ext>
            </a:extLst>
          </p:cNvPr>
          <p:cNvSpPr>
            <a:spLocks noGrp="1"/>
          </p:cNvSpPr>
          <p:nvPr>
            <p:ph type="title"/>
          </p:nvPr>
        </p:nvSpPr>
        <p:spPr/>
        <p:txBody>
          <a:bodyPr/>
          <a:lstStyle/>
          <a:p>
            <a:r>
              <a:rPr lang="en-GB" dirty="0"/>
              <a:t>Motivation behind project</a:t>
            </a:r>
          </a:p>
        </p:txBody>
      </p:sp>
      <p:sp>
        <p:nvSpPr>
          <p:cNvPr id="3" name="Content Placeholder 2">
            <a:extLst>
              <a:ext uri="{FF2B5EF4-FFF2-40B4-BE49-F238E27FC236}">
                <a16:creationId xmlns:a16="http://schemas.microsoft.com/office/drawing/2014/main" id="{2FC9ACA4-0882-40EA-802F-289D812F764C}"/>
              </a:ext>
            </a:extLst>
          </p:cNvPr>
          <p:cNvSpPr>
            <a:spLocks noGrp="1"/>
          </p:cNvSpPr>
          <p:nvPr>
            <p:ph idx="1"/>
          </p:nvPr>
        </p:nvSpPr>
        <p:spPr/>
        <p:txBody>
          <a:bodyPr/>
          <a:lstStyle/>
          <a:p>
            <a:r>
              <a:rPr lang="en-GB" dirty="0"/>
              <a:t>My friends and I have a passion for cars that extends beyond racing games.</a:t>
            </a:r>
          </a:p>
          <a:p>
            <a:r>
              <a:rPr lang="en-GB" dirty="0"/>
              <a:t>Racing drivers will feel more comfortable with different cars based on their driving characteristics – we wanted a method of measuring potential track performance while eliminating the driver from the equation.</a:t>
            </a:r>
          </a:p>
          <a:p>
            <a:r>
              <a:rPr lang="en-GB" dirty="0"/>
              <a:t>Creating a more objective way of comparing performance between cars. </a:t>
            </a:r>
          </a:p>
          <a:p>
            <a:r>
              <a:rPr lang="en-GB" dirty="0"/>
              <a:t>A fun way of applying mathematics to real world situations.</a:t>
            </a:r>
          </a:p>
        </p:txBody>
      </p:sp>
    </p:spTree>
    <p:extLst>
      <p:ext uri="{BB962C8B-B14F-4D97-AF65-F5344CB8AC3E}">
        <p14:creationId xmlns:p14="http://schemas.microsoft.com/office/powerpoint/2010/main" val="1236801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6B970-6459-4F5D-B3EE-4BF2D3E07623}"/>
              </a:ext>
            </a:extLst>
          </p:cNvPr>
          <p:cNvSpPr>
            <a:spLocks noGrp="1"/>
          </p:cNvSpPr>
          <p:nvPr>
            <p:ph type="title"/>
          </p:nvPr>
        </p:nvSpPr>
        <p:spPr/>
        <p:txBody>
          <a:bodyPr/>
          <a:lstStyle/>
          <a:p>
            <a:r>
              <a:rPr lang="en-GB" dirty="0"/>
              <a:t>Gathering Racetrack data</a:t>
            </a:r>
          </a:p>
        </p:txBody>
      </p:sp>
      <p:sp>
        <p:nvSpPr>
          <p:cNvPr id="3" name="Content Placeholder 2">
            <a:extLst>
              <a:ext uri="{FF2B5EF4-FFF2-40B4-BE49-F238E27FC236}">
                <a16:creationId xmlns:a16="http://schemas.microsoft.com/office/drawing/2014/main" id="{B0D0E0C3-69F7-4F44-8B4E-33860AE7F894}"/>
              </a:ext>
            </a:extLst>
          </p:cNvPr>
          <p:cNvSpPr>
            <a:spLocks noGrp="1"/>
          </p:cNvSpPr>
          <p:nvPr>
            <p:ph idx="1"/>
          </p:nvPr>
        </p:nvSpPr>
        <p:spPr/>
        <p:txBody>
          <a:bodyPr>
            <a:normAutofit lnSpcReduction="10000"/>
          </a:bodyPr>
          <a:lstStyle/>
          <a:p>
            <a:r>
              <a:rPr lang="en-GB" dirty="0"/>
              <a:t>As a group we collectively decided to focus on the racetrack Laguna </a:t>
            </a:r>
            <a:r>
              <a:rPr lang="en-GB" dirty="0" err="1"/>
              <a:t>Seca</a:t>
            </a:r>
            <a:r>
              <a:rPr lang="en-GB" dirty="0"/>
              <a:t> at first.</a:t>
            </a:r>
          </a:p>
          <a:p>
            <a:r>
              <a:rPr lang="en-GB" dirty="0"/>
              <a:t> We scoured the internet for data to map out all of the tracks corners and straights however no such data could be found.</a:t>
            </a:r>
          </a:p>
          <a:p>
            <a:r>
              <a:rPr lang="en-GB" dirty="0"/>
              <a:t>I came up with the idea of using Google Earth due to the measuring tools available.</a:t>
            </a:r>
          </a:p>
          <a:p>
            <a:r>
              <a:rPr lang="en-GB" dirty="0"/>
              <a:t>Before measuring specific parts of the track we measured the entire track and compared our measured length to the distance stated online and on the track’s website if there is one.</a:t>
            </a:r>
          </a:p>
          <a:p>
            <a:r>
              <a:rPr lang="en-GB" dirty="0"/>
              <a:t>After validating our initial measurement we then separated the track into a collection of corners and straights and measured them separately.</a:t>
            </a:r>
          </a:p>
        </p:txBody>
      </p:sp>
    </p:spTree>
    <p:extLst>
      <p:ext uri="{BB962C8B-B14F-4D97-AF65-F5344CB8AC3E}">
        <p14:creationId xmlns:p14="http://schemas.microsoft.com/office/powerpoint/2010/main" val="126639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03C8E17-A139-4EFD-A536-48D5DBB93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BE5CB7-20D5-4136-A895-4F255E896075}"/>
              </a:ext>
            </a:extLst>
          </p:cNvPr>
          <p:cNvSpPr>
            <a:spLocks noGrp="1"/>
          </p:cNvSpPr>
          <p:nvPr>
            <p:ph type="title"/>
          </p:nvPr>
        </p:nvSpPr>
        <p:spPr>
          <a:xfrm>
            <a:off x="731485" y="609600"/>
            <a:ext cx="4754022" cy="1326321"/>
          </a:xfrm>
        </p:spPr>
        <p:txBody>
          <a:bodyPr>
            <a:normAutofit/>
          </a:bodyPr>
          <a:lstStyle/>
          <a:p>
            <a:r>
              <a:rPr lang="en-GB" dirty="0"/>
              <a:t>Example: Laguna </a:t>
            </a:r>
            <a:r>
              <a:rPr lang="en-GB" dirty="0" err="1"/>
              <a:t>seca</a:t>
            </a:r>
            <a:endParaRPr lang="en-GB" dirty="0"/>
          </a:p>
        </p:txBody>
      </p:sp>
      <p:sp>
        <p:nvSpPr>
          <p:cNvPr id="7" name="Content Placeholder 6">
            <a:extLst>
              <a:ext uri="{FF2B5EF4-FFF2-40B4-BE49-F238E27FC236}">
                <a16:creationId xmlns:a16="http://schemas.microsoft.com/office/drawing/2014/main" id="{76E1D18B-3108-4A56-ACB0-270527F71C03}"/>
              </a:ext>
            </a:extLst>
          </p:cNvPr>
          <p:cNvSpPr>
            <a:spLocks noGrp="1"/>
          </p:cNvSpPr>
          <p:nvPr>
            <p:ph idx="1"/>
          </p:nvPr>
        </p:nvSpPr>
        <p:spPr>
          <a:xfrm>
            <a:off x="731485" y="2096063"/>
            <a:ext cx="4754022" cy="3648891"/>
          </a:xfrm>
        </p:spPr>
        <p:txBody>
          <a:bodyPr>
            <a:normAutofit lnSpcReduction="10000"/>
          </a:bodyPr>
          <a:lstStyle/>
          <a:p>
            <a:pPr>
              <a:lnSpc>
                <a:spcPct val="110000"/>
              </a:lnSpc>
            </a:pPr>
            <a:r>
              <a:rPr lang="en-GB" dirty="0"/>
              <a:t>An online image of the track compared to a Google Earth Image with our measurements.</a:t>
            </a:r>
          </a:p>
          <a:p>
            <a:pPr>
              <a:lnSpc>
                <a:spcPct val="110000"/>
              </a:lnSpc>
            </a:pPr>
            <a:r>
              <a:rPr lang="en-GB" dirty="0"/>
              <a:t>The track length we measured was 3566 metres which is approximately 2.22 miles which is only a 0.8% difference from the actual 2.236 which could be due to the fact we measured along the ‘racing lines’ however we do not know the original track measuring methods.</a:t>
            </a:r>
          </a:p>
          <a:p>
            <a:pPr marL="0" indent="0">
              <a:lnSpc>
                <a:spcPct val="110000"/>
              </a:lnSpc>
              <a:buNone/>
            </a:pPr>
            <a:endParaRPr lang="en-GB" dirty="0"/>
          </a:p>
        </p:txBody>
      </p:sp>
      <p:pic>
        <p:nvPicPr>
          <p:cNvPr id="13" name="Picture 12">
            <a:extLst>
              <a:ext uri="{FF2B5EF4-FFF2-40B4-BE49-F238E27FC236}">
                <a16:creationId xmlns:a16="http://schemas.microsoft.com/office/drawing/2014/main" id="{6005716B-11C9-405E-B572-8579541F3986}"/>
              </a:ext>
            </a:extLst>
          </p:cNvPr>
          <p:cNvPicPr>
            <a:picLocks noChangeAspect="1"/>
          </p:cNvPicPr>
          <p:nvPr/>
        </p:nvPicPr>
        <p:blipFill rotWithShape="1">
          <a:blip r:embed="rId3"/>
          <a:srcRect l="3039" r="853" b="2"/>
          <a:stretch/>
        </p:blipFill>
        <p:spPr>
          <a:xfrm>
            <a:off x="6216992" y="45801"/>
            <a:ext cx="3035471" cy="2660894"/>
          </a:xfrm>
          <a:prstGeom prst="rect">
            <a:avLst/>
          </a:prstGeom>
        </p:spPr>
      </p:pic>
      <p:pic>
        <p:nvPicPr>
          <p:cNvPr id="9" name="Picture 8" descr="Diagram&#10;&#10;Description automatically generated">
            <a:extLst>
              <a:ext uri="{FF2B5EF4-FFF2-40B4-BE49-F238E27FC236}">
                <a16:creationId xmlns:a16="http://schemas.microsoft.com/office/drawing/2014/main" id="{725D3598-4D7F-44AB-8D32-4DD08C57268B}"/>
              </a:ext>
            </a:extLst>
          </p:cNvPr>
          <p:cNvPicPr>
            <a:picLocks noChangeAspect="1"/>
          </p:cNvPicPr>
          <p:nvPr/>
        </p:nvPicPr>
        <p:blipFill rotWithShape="1">
          <a:blip r:embed="rId4">
            <a:extLst>
              <a:ext uri="{28A0092B-C50C-407E-A947-70E740481C1C}">
                <a14:useLocalDpi xmlns:a14="http://schemas.microsoft.com/office/drawing/2010/main" val="0"/>
              </a:ext>
            </a:extLst>
          </a:blip>
          <a:srcRect b="-2882"/>
          <a:stretch/>
        </p:blipFill>
        <p:spPr>
          <a:xfrm>
            <a:off x="9261384" y="45801"/>
            <a:ext cx="2930616" cy="2992458"/>
          </a:xfrm>
          <a:prstGeom prst="rect">
            <a:avLst/>
          </a:prstGeom>
        </p:spPr>
      </p:pic>
      <p:pic>
        <p:nvPicPr>
          <p:cNvPr id="15" name="Picture 14">
            <a:extLst>
              <a:ext uri="{FF2B5EF4-FFF2-40B4-BE49-F238E27FC236}">
                <a16:creationId xmlns:a16="http://schemas.microsoft.com/office/drawing/2014/main" id="{470D715A-1DAC-493D-8F1B-D2726A042234}"/>
              </a:ext>
            </a:extLst>
          </p:cNvPr>
          <p:cNvPicPr>
            <a:picLocks noChangeAspect="1"/>
          </p:cNvPicPr>
          <p:nvPr/>
        </p:nvPicPr>
        <p:blipFill rotWithShape="1">
          <a:blip r:embed="rId5"/>
          <a:srcRect l="491" t="1" r="8214" b="1"/>
          <a:stretch/>
        </p:blipFill>
        <p:spPr>
          <a:xfrm>
            <a:off x="6358964" y="3819741"/>
            <a:ext cx="5366871" cy="1925213"/>
          </a:xfrm>
          <a:prstGeom prst="rect">
            <a:avLst/>
          </a:prstGeom>
        </p:spPr>
      </p:pic>
      <p:cxnSp>
        <p:nvCxnSpPr>
          <p:cNvPr id="22" name="Straight Connector 21">
            <a:extLst>
              <a:ext uri="{FF2B5EF4-FFF2-40B4-BE49-F238E27FC236}">
                <a16:creationId xmlns:a16="http://schemas.microsoft.com/office/drawing/2014/main" id="{0BE88228-4573-4592-A98E-9D94B65CAA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0"/>
            <a:ext cx="0" cy="6858000"/>
          </a:xfrm>
          <a:prstGeom prst="line">
            <a:avLst/>
          </a:prstGeom>
          <a:ln w="171450">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735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BE44ED-6075-4E11-A73C-B65948617E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C8719C-A0BF-4449-A963-52504E5F56AD}"/>
              </a:ext>
            </a:extLst>
          </p:cNvPr>
          <p:cNvSpPr>
            <a:spLocks noGrp="1"/>
          </p:cNvSpPr>
          <p:nvPr>
            <p:ph type="title"/>
          </p:nvPr>
        </p:nvSpPr>
        <p:spPr>
          <a:xfrm>
            <a:off x="4927472" y="609600"/>
            <a:ext cx="6340084" cy="1326321"/>
          </a:xfrm>
        </p:spPr>
        <p:txBody>
          <a:bodyPr>
            <a:normAutofit/>
          </a:bodyPr>
          <a:lstStyle/>
          <a:p>
            <a:r>
              <a:rPr lang="en-GB" dirty="0"/>
              <a:t>Measuring corners and straights</a:t>
            </a:r>
          </a:p>
        </p:txBody>
      </p:sp>
      <p:pic>
        <p:nvPicPr>
          <p:cNvPr id="7" name="Picture 6">
            <a:extLst>
              <a:ext uri="{FF2B5EF4-FFF2-40B4-BE49-F238E27FC236}">
                <a16:creationId xmlns:a16="http://schemas.microsoft.com/office/drawing/2014/main" id="{A2C5215D-68DA-4182-BA45-281FB8CC6394}"/>
              </a:ext>
            </a:extLst>
          </p:cNvPr>
          <p:cNvPicPr>
            <a:picLocks noChangeAspect="1"/>
          </p:cNvPicPr>
          <p:nvPr/>
        </p:nvPicPr>
        <p:blipFill rotWithShape="1">
          <a:blip r:embed="rId3"/>
          <a:srcRect l="3853" r="1635" b="-1"/>
          <a:stretch/>
        </p:blipFill>
        <p:spPr>
          <a:xfrm>
            <a:off x="405738" y="-51302"/>
            <a:ext cx="3655278" cy="3316441"/>
          </a:xfrm>
          <a:prstGeom prst="rect">
            <a:avLst/>
          </a:prstGeom>
        </p:spPr>
      </p:pic>
      <p:pic>
        <p:nvPicPr>
          <p:cNvPr id="5" name="Picture 4">
            <a:extLst>
              <a:ext uri="{FF2B5EF4-FFF2-40B4-BE49-F238E27FC236}">
                <a16:creationId xmlns:a16="http://schemas.microsoft.com/office/drawing/2014/main" id="{527E462D-C71B-4D17-B649-EF9FC8388A22}"/>
              </a:ext>
            </a:extLst>
          </p:cNvPr>
          <p:cNvPicPr>
            <a:picLocks noChangeAspect="1"/>
          </p:cNvPicPr>
          <p:nvPr/>
        </p:nvPicPr>
        <p:blipFill rotWithShape="1">
          <a:blip r:embed="rId4"/>
          <a:srcRect t="237" b="978"/>
          <a:stretch/>
        </p:blipFill>
        <p:spPr>
          <a:xfrm>
            <a:off x="342725" y="3511428"/>
            <a:ext cx="3781304" cy="3100283"/>
          </a:xfrm>
          <a:prstGeom prst="rect">
            <a:avLst/>
          </a:prstGeom>
        </p:spPr>
      </p:pic>
      <p:cxnSp>
        <p:nvCxnSpPr>
          <p:cNvPr id="14" name="Straight Connector 13">
            <a:extLst>
              <a:ext uri="{FF2B5EF4-FFF2-40B4-BE49-F238E27FC236}">
                <a16:creationId xmlns:a16="http://schemas.microsoft.com/office/drawing/2014/main" id="{01943F1F-3D4C-4F63-A3E6-42265F518A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
        <p:nvSpPr>
          <p:cNvPr id="3" name="Content Placeholder 2" descr="mapping of 'straight' sections&#10;">
            <a:extLst>
              <a:ext uri="{FF2B5EF4-FFF2-40B4-BE49-F238E27FC236}">
                <a16:creationId xmlns:a16="http://schemas.microsoft.com/office/drawing/2014/main" id="{CF38D764-779C-4E31-8E21-B1343F53B049}"/>
              </a:ext>
            </a:extLst>
          </p:cNvPr>
          <p:cNvSpPr>
            <a:spLocks noGrp="1"/>
          </p:cNvSpPr>
          <p:nvPr>
            <p:ph idx="1"/>
          </p:nvPr>
        </p:nvSpPr>
        <p:spPr>
          <a:xfrm>
            <a:off x="4927471" y="2096064"/>
            <a:ext cx="6340085" cy="3942786"/>
          </a:xfrm>
        </p:spPr>
        <p:txBody>
          <a:bodyPr>
            <a:normAutofit/>
          </a:bodyPr>
          <a:lstStyle/>
          <a:p>
            <a:r>
              <a:rPr lang="en-GB" dirty="0"/>
              <a:t>Mapped corners as a circular path; the easiest and best method of measuring cornering speed is using circular motion rules.</a:t>
            </a:r>
          </a:p>
          <a:p>
            <a:r>
              <a:rPr lang="en-GB" dirty="0"/>
              <a:t>Sections between corners are assumed to be ‘straight’ as they wont require cars to slow down even though the path isn’t always completely straight.</a:t>
            </a:r>
          </a:p>
          <a:p>
            <a:pPr marL="0" indent="0">
              <a:buNone/>
            </a:pPr>
            <a:endParaRPr lang="en-GB" dirty="0"/>
          </a:p>
        </p:txBody>
      </p:sp>
    </p:spTree>
    <p:extLst>
      <p:ext uri="{BB962C8B-B14F-4D97-AF65-F5344CB8AC3E}">
        <p14:creationId xmlns:p14="http://schemas.microsoft.com/office/powerpoint/2010/main" val="3457399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5025F-765F-4007-9116-1436F077F1B7}"/>
              </a:ext>
            </a:extLst>
          </p:cNvPr>
          <p:cNvSpPr>
            <a:spLocks noGrp="1"/>
          </p:cNvSpPr>
          <p:nvPr>
            <p:ph type="title"/>
          </p:nvPr>
        </p:nvSpPr>
        <p:spPr/>
        <p:txBody>
          <a:bodyPr/>
          <a:lstStyle/>
          <a:p>
            <a:r>
              <a:rPr lang="en-GB" dirty="0"/>
              <a:t>Gathering Car data</a:t>
            </a:r>
          </a:p>
        </p:txBody>
      </p:sp>
      <p:sp>
        <p:nvSpPr>
          <p:cNvPr id="3" name="Content Placeholder 2">
            <a:extLst>
              <a:ext uri="{FF2B5EF4-FFF2-40B4-BE49-F238E27FC236}">
                <a16:creationId xmlns:a16="http://schemas.microsoft.com/office/drawing/2014/main" id="{58F35BC1-8B03-430D-944D-D4730E14B97F}"/>
              </a:ext>
            </a:extLst>
          </p:cNvPr>
          <p:cNvSpPr>
            <a:spLocks noGrp="1"/>
          </p:cNvSpPr>
          <p:nvPr>
            <p:ph idx="1"/>
          </p:nvPr>
        </p:nvSpPr>
        <p:spPr>
          <a:xfrm>
            <a:off x="913794" y="1713570"/>
            <a:ext cx="10353762" cy="3695136"/>
          </a:xfrm>
        </p:spPr>
        <p:txBody>
          <a:bodyPr>
            <a:normAutofit/>
          </a:bodyPr>
          <a:lstStyle/>
          <a:p>
            <a:r>
              <a:rPr lang="en-GB" sz="1600" dirty="0"/>
              <a:t>For this presentation I will be using the 2016 Dodge Viper ACR-E and the 2010 Bugatti Veyron </a:t>
            </a:r>
            <a:r>
              <a:rPr lang="en-GB" sz="1600" dirty="0" err="1"/>
              <a:t>Supersport</a:t>
            </a:r>
            <a:r>
              <a:rPr lang="en-GB" sz="1600" dirty="0"/>
              <a:t>.</a:t>
            </a:r>
          </a:p>
          <a:p>
            <a:r>
              <a:rPr lang="en-GB" sz="1600" dirty="0"/>
              <a:t>Despite already knowing many of the specs including necessary data we still visited multiple websites such as the original manufacturer sites, </a:t>
            </a:r>
            <a:r>
              <a:rPr lang="en-GB" sz="1600" dirty="0" err="1"/>
              <a:t>fastestlaps</a:t>
            </a:r>
            <a:r>
              <a:rPr lang="en-GB" sz="1600" dirty="0"/>
              <a:t>, evo and </a:t>
            </a:r>
            <a:r>
              <a:rPr lang="en-GB" sz="1600" dirty="0" err="1"/>
              <a:t>motortrend</a:t>
            </a:r>
            <a:r>
              <a:rPr lang="en-GB" sz="1600" dirty="0"/>
              <a:t> to verify our numbers.</a:t>
            </a:r>
          </a:p>
        </p:txBody>
      </p:sp>
      <p:graphicFrame>
        <p:nvGraphicFramePr>
          <p:cNvPr id="4" name="Table 4">
            <a:extLst>
              <a:ext uri="{FF2B5EF4-FFF2-40B4-BE49-F238E27FC236}">
                <a16:creationId xmlns:a16="http://schemas.microsoft.com/office/drawing/2014/main" id="{49702B46-F925-4525-8F83-84FED247C278}"/>
              </a:ext>
            </a:extLst>
          </p:cNvPr>
          <p:cNvGraphicFramePr>
            <a:graphicFrameLocks noGrp="1"/>
          </p:cNvGraphicFramePr>
          <p:nvPr>
            <p:extLst>
              <p:ext uri="{D42A27DB-BD31-4B8C-83A1-F6EECF244321}">
                <p14:modId xmlns:p14="http://schemas.microsoft.com/office/powerpoint/2010/main" val="2150627622"/>
              </p:ext>
            </p:extLst>
          </p:nvPr>
        </p:nvGraphicFramePr>
        <p:xfrm>
          <a:off x="1649505" y="2991547"/>
          <a:ext cx="8265459" cy="3587352"/>
        </p:xfrm>
        <a:graphic>
          <a:graphicData uri="http://schemas.openxmlformats.org/drawingml/2006/table">
            <a:tbl>
              <a:tblPr firstRow="1" bandRow="1">
                <a:tableStyleId>{5C22544A-7EE6-4342-B048-85BDC9FD1C3A}</a:tableStyleId>
              </a:tblPr>
              <a:tblGrid>
                <a:gridCol w="2755153">
                  <a:extLst>
                    <a:ext uri="{9D8B030D-6E8A-4147-A177-3AD203B41FA5}">
                      <a16:colId xmlns:a16="http://schemas.microsoft.com/office/drawing/2014/main" val="2901100526"/>
                    </a:ext>
                  </a:extLst>
                </a:gridCol>
                <a:gridCol w="2755153">
                  <a:extLst>
                    <a:ext uri="{9D8B030D-6E8A-4147-A177-3AD203B41FA5}">
                      <a16:colId xmlns:a16="http://schemas.microsoft.com/office/drawing/2014/main" val="541026407"/>
                    </a:ext>
                  </a:extLst>
                </a:gridCol>
                <a:gridCol w="2755153">
                  <a:extLst>
                    <a:ext uri="{9D8B030D-6E8A-4147-A177-3AD203B41FA5}">
                      <a16:colId xmlns:a16="http://schemas.microsoft.com/office/drawing/2014/main" val="3661401625"/>
                    </a:ext>
                  </a:extLst>
                </a:gridCol>
              </a:tblGrid>
              <a:tr h="570497">
                <a:tc>
                  <a:txBody>
                    <a:bodyPr/>
                    <a:lstStyle/>
                    <a:p>
                      <a:endParaRPr lang="en-GB" sz="1400" dirty="0"/>
                    </a:p>
                  </a:txBody>
                  <a:tcPr/>
                </a:tc>
                <a:tc>
                  <a:txBody>
                    <a:bodyPr/>
                    <a:lstStyle/>
                    <a:p>
                      <a:r>
                        <a:rPr lang="en-GB" sz="1400" dirty="0"/>
                        <a:t>Bugatti Veyron </a:t>
                      </a:r>
                      <a:r>
                        <a:rPr lang="en-GB" sz="1400" dirty="0" err="1"/>
                        <a:t>Supersport</a:t>
                      </a:r>
                      <a:endParaRPr lang="en-GB" sz="1400" dirty="0"/>
                    </a:p>
                  </a:txBody>
                  <a:tcPr/>
                </a:tc>
                <a:tc>
                  <a:txBody>
                    <a:bodyPr/>
                    <a:lstStyle/>
                    <a:p>
                      <a:r>
                        <a:rPr lang="en-GB" sz="1400" dirty="0"/>
                        <a:t>Dodge Viper ACR-E</a:t>
                      </a:r>
                    </a:p>
                  </a:txBody>
                  <a:tcPr/>
                </a:tc>
                <a:extLst>
                  <a:ext uri="{0D108BD9-81ED-4DB2-BD59-A6C34878D82A}">
                    <a16:rowId xmlns:a16="http://schemas.microsoft.com/office/drawing/2014/main" val="3385271657"/>
                  </a:ext>
                </a:extLst>
              </a:tr>
              <a:tr h="393389">
                <a:tc>
                  <a:txBody>
                    <a:bodyPr/>
                    <a:lstStyle/>
                    <a:p>
                      <a:r>
                        <a:rPr lang="en-GB" sz="1400" dirty="0"/>
                        <a:t>0-60mph (26.8224m/s)</a:t>
                      </a:r>
                    </a:p>
                  </a:txBody>
                  <a:tcPr/>
                </a:tc>
                <a:tc>
                  <a:txBody>
                    <a:bodyPr/>
                    <a:lstStyle/>
                    <a:p>
                      <a:r>
                        <a:rPr lang="en-GB" sz="1400" dirty="0"/>
                        <a:t>2.4 secs</a:t>
                      </a:r>
                    </a:p>
                  </a:txBody>
                  <a:tcPr/>
                </a:tc>
                <a:tc>
                  <a:txBody>
                    <a:bodyPr/>
                    <a:lstStyle/>
                    <a:p>
                      <a:r>
                        <a:rPr lang="en-GB" sz="1400" dirty="0"/>
                        <a:t>3.3 secs </a:t>
                      </a:r>
                    </a:p>
                  </a:txBody>
                  <a:tcPr/>
                </a:tc>
                <a:extLst>
                  <a:ext uri="{0D108BD9-81ED-4DB2-BD59-A6C34878D82A}">
                    <a16:rowId xmlns:a16="http://schemas.microsoft.com/office/drawing/2014/main" val="824068185"/>
                  </a:ext>
                </a:extLst>
              </a:tr>
              <a:tr h="485085">
                <a:tc>
                  <a:txBody>
                    <a:bodyPr/>
                    <a:lstStyle/>
                    <a:p>
                      <a:r>
                        <a:rPr lang="en-GB" sz="1400" dirty="0"/>
                        <a:t>Standing quarter mile </a:t>
                      </a:r>
                    </a:p>
                  </a:txBody>
                  <a:tcPr/>
                </a:tc>
                <a:tc>
                  <a:txBody>
                    <a:bodyPr/>
                    <a:lstStyle/>
                    <a:p>
                      <a:r>
                        <a:rPr lang="en-GB" sz="1400" dirty="0">
                          <a:hlinkClick r:id="rId2"/>
                        </a:rPr>
                        <a:t>9.9secs@146mph</a:t>
                      </a:r>
                      <a:r>
                        <a:rPr lang="en-GB" sz="1400" dirty="0"/>
                        <a:t> (65.268m/s)</a:t>
                      </a:r>
                    </a:p>
                  </a:txBody>
                  <a:tcPr/>
                </a:tc>
                <a:tc>
                  <a:txBody>
                    <a:bodyPr/>
                    <a:lstStyle/>
                    <a:p>
                      <a:r>
                        <a:rPr lang="en-GB" sz="1400" dirty="0">
                          <a:hlinkClick r:id="rId3"/>
                        </a:rPr>
                        <a:t>11.5secs@127.3mph</a:t>
                      </a:r>
                      <a:r>
                        <a:rPr lang="en-GB" sz="1400" dirty="0"/>
                        <a:t>(56.908m/s)</a:t>
                      </a:r>
                    </a:p>
                  </a:txBody>
                  <a:tcPr/>
                </a:tc>
                <a:extLst>
                  <a:ext uri="{0D108BD9-81ED-4DB2-BD59-A6C34878D82A}">
                    <a16:rowId xmlns:a16="http://schemas.microsoft.com/office/drawing/2014/main" val="1245542947"/>
                  </a:ext>
                </a:extLst>
              </a:tr>
              <a:tr h="337466">
                <a:tc>
                  <a:txBody>
                    <a:bodyPr/>
                    <a:lstStyle/>
                    <a:p>
                      <a:r>
                        <a:rPr lang="en-GB" sz="1400" dirty="0"/>
                        <a:t>0-186mph(83.149m/s)</a:t>
                      </a:r>
                    </a:p>
                  </a:txBody>
                  <a:tcPr/>
                </a:tc>
                <a:tc>
                  <a:txBody>
                    <a:bodyPr/>
                    <a:lstStyle/>
                    <a:p>
                      <a:r>
                        <a:rPr lang="en-GB" sz="1400" dirty="0"/>
                        <a:t>14.6secs</a:t>
                      </a:r>
                    </a:p>
                  </a:txBody>
                  <a:tcPr/>
                </a:tc>
                <a:tc>
                  <a:txBody>
                    <a:bodyPr/>
                    <a:lstStyle/>
                    <a:p>
                      <a:r>
                        <a:rPr lang="en-GB" sz="1400" dirty="0"/>
                        <a:t>N/A (top speed 177mph)</a:t>
                      </a:r>
                    </a:p>
                  </a:txBody>
                  <a:tcPr/>
                </a:tc>
                <a:extLst>
                  <a:ext uri="{0D108BD9-81ED-4DB2-BD59-A6C34878D82A}">
                    <a16:rowId xmlns:a16="http://schemas.microsoft.com/office/drawing/2014/main" val="1168395754"/>
                  </a:ext>
                </a:extLst>
              </a:tr>
              <a:tr h="286870">
                <a:tc>
                  <a:txBody>
                    <a:bodyPr/>
                    <a:lstStyle/>
                    <a:p>
                      <a:r>
                        <a:rPr lang="en-GB" sz="1400" dirty="0"/>
                        <a:t>Mass</a:t>
                      </a:r>
                    </a:p>
                  </a:txBody>
                  <a:tcPr/>
                </a:tc>
                <a:tc>
                  <a:txBody>
                    <a:bodyPr/>
                    <a:lstStyle/>
                    <a:p>
                      <a:r>
                        <a:rPr lang="en-GB" sz="1400" dirty="0"/>
                        <a:t>1990kg</a:t>
                      </a:r>
                    </a:p>
                  </a:txBody>
                  <a:tcPr/>
                </a:tc>
                <a:tc>
                  <a:txBody>
                    <a:bodyPr/>
                    <a:lstStyle/>
                    <a:p>
                      <a:r>
                        <a:rPr lang="en-GB" sz="1400" dirty="0"/>
                        <a:t>1538kg</a:t>
                      </a:r>
                    </a:p>
                  </a:txBody>
                  <a:tcPr/>
                </a:tc>
                <a:extLst>
                  <a:ext uri="{0D108BD9-81ED-4DB2-BD59-A6C34878D82A}">
                    <a16:rowId xmlns:a16="http://schemas.microsoft.com/office/drawing/2014/main" val="161085735"/>
                  </a:ext>
                </a:extLst>
              </a:tr>
              <a:tr h="0">
                <a:tc>
                  <a:txBody>
                    <a:bodyPr/>
                    <a:lstStyle/>
                    <a:p>
                      <a:r>
                        <a:rPr lang="en-GB" sz="1400" dirty="0"/>
                        <a:t>Downforce</a:t>
                      </a:r>
                    </a:p>
                  </a:txBody>
                  <a:tcPr/>
                </a:tc>
                <a:tc>
                  <a:txBody>
                    <a:bodyPr/>
                    <a:lstStyle/>
                    <a:p>
                      <a:r>
                        <a:rPr lang="en-GB" sz="1400" dirty="0"/>
                        <a:t>400kg@250mph</a:t>
                      </a:r>
                    </a:p>
                    <a:p>
                      <a:r>
                        <a:rPr lang="en-GB" sz="1400" dirty="0"/>
                        <a:t>(3924N@114.442m/s)</a:t>
                      </a:r>
                    </a:p>
                  </a:txBody>
                  <a:tcPr/>
                </a:tc>
                <a:tc>
                  <a:txBody>
                    <a:bodyPr/>
                    <a:lstStyle/>
                    <a:p>
                      <a:r>
                        <a:rPr lang="en-GB" sz="1400" dirty="0">
                          <a:hlinkClick r:id="rId4"/>
                        </a:rPr>
                        <a:t>544.3kg@150mph</a:t>
                      </a:r>
                      <a:endParaRPr lang="en-GB" sz="1400" dirty="0"/>
                    </a:p>
                    <a:p>
                      <a:r>
                        <a:rPr lang="en-GB" sz="1400" dirty="0"/>
                        <a:t>771kg@177mph</a:t>
                      </a:r>
                    </a:p>
                    <a:p>
                      <a:r>
                        <a:rPr lang="en-GB" sz="1400" dirty="0"/>
                        <a:t>(</a:t>
                      </a:r>
                      <a:r>
                        <a:rPr lang="en-GB" sz="1400" dirty="0">
                          <a:hlinkClick r:id="rId5"/>
                        </a:rPr>
                        <a:t>5339.583N@67.056m/s</a:t>
                      </a:r>
                      <a:endParaRPr lang="en-GB" sz="1400" dirty="0"/>
                    </a:p>
                    <a:p>
                      <a:r>
                        <a:rPr lang="en-GB" sz="1400" dirty="0"/>
                        <a:t>7563.51N@79.126m/s)</a:t>
                      </a:r>
                    </a:p>
                  </a:txBody>
                  <a:tcPr/>
                </a:tc>
                <a:extLst>
                  <a:ext uri="{0D108BD9-81ED-4DB2-BD59-A6C34878D82A}">
                    <a16:rowId xmlns:a16="http://schemas.microsoft.com/office/drawing/2014/main" val="3554809870"/>
                  </a:ext>
                </a:extLst>
              </a:tr>
              <a:tr h="0">
                <a:tc>
                  <a:txBody>
                    <a:bodyPr/>
                    <a:lstStyle/>
                    <a:p>
                      <a:r>
                        <a:rPr lang="en-GB" sz="1400" dirty="0"/>
                        <a:t>Power</a:t>
                      </a:r>
                    </a:p>
                    <a:p>
                      <a:r>
                        <a:rPr lang="en-GB" sz="1400" dirty="0"/>
                        <a:t>Torque</a:t>
                      </a:r>
                    </a:p>
                  </a:txBody>
                  <a:tcPr/>
                </a:tc>
                <a:tc>
                  <a:txBody>
                    <a:bodyPr/>
                    <a:lstStyle/>
                    <a:p>
                      <a:r>
                        <a:rPr lang="en-GB" sz="1400" dirty="0"/>
                        <a:t>1183bhp</a:t>
                      </a:r>
                    </a:p>
                    <a:p>
                      <a:r>
                        <a:rPr lang="en-GB" sz="1400" dirty="0"/>
                        <a:t>1106lb-ft</a:t>
                      </a:r>
                    </a:p>
                  </a:txBody>
                  <a:tcPr/>
                </a:tc>
                <a:tc>
                  <a:txBody>
                    <a:bodyPr/>
                    <a:lstStyle/>
                    <a:p>
                      <a:r>
                        <a:rPr lang="en-GB" sz="1400" dirty="0"/>
                        <a:t>645bhp</a:t>
                      </a:r>
                    </a:p>
                    <a:p>
                      <a:r>
                        <a:rPr lang="en-GB" sz="1400" dirty="0"/>
                        <a:t>600lb-ft</a:t>
                      </a:r>
                    </a:p>
                  </a:txBody>
                  <a:tcPr/>
                </a:tc>
                <a:extLst>
                  <a:ext uri="{0D108BD9-81ED-4DB2-BD59-A6C34878D82A}">
                    <a16:rowId xmlns:a16="http://schemas.microsoft.com/office/drawing/2014/main" val="167799869"/>
                  </a:ext>
                </a:extLst>
              </a:tr>
            </a:tbl>
          </a:graphicData>
        </a:graphic>
      </p:graphicFrame>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7CC8741E-FB11-44CB-9E53-5D60964772A9}"/>
                  </a:ext>
                </a:extLst>
              </p14:cNvPr>
              <p14:cNvContentPartPr/>
              <p14:nvPr/>
            </p14:nvContentPartPr>
            <p14:xfrm>
              <a:off x="7573720" y="4922458"/>
              <a:ext cx="360" cy="360"/>
            </p14:xfrm>
          </p:contentPart>
        </mc:Choice>
        <mc:Fallback>
          <p:pic>
            <p:nvPicPr>
              <p:cNvPr id="6" name="Ink 5">
                <a:extLst>
                  <a:ext uri="{FF2B5EF4-FFF2-40B4-BE49-F238E27FC236}">
                    <a16:creationId xmlns:a16="http://schemas.microsoft.com/office/drawing/2014/main" id="{7CC8741E-FB11-44CB-9E53-5D60964772A9}"/>
                  </a:ext>
                </a:extLst>
              </p:cNvPr>
              <p:cNvPicPr/>
              <p:nvPr/>
            </p:nvPicPr>
            <p:blipFill>
              <a:blip r:embed="rId7"/>
              <a:stretch>
                <a:fillRect/>
              </a:stretch>
            </p:blipFill>
            <p:spPr>
              <a:xfrm>
                <a:off x="7565080" y="4913818"/>
                <a:ext cx="18000" cy="18000"/>
              </a:xfrm>
              <a:prstGeom prst="rect">
                <a:avLst/>
              </a:prstGeom>
            </p:spPr>
          </p:pic>
        </mc:Fallback>
      </mc:AlternateContent>
    </p:spTree>
    <p:extLst>
      <p:ext uri="{BB962C8B-B14F-4D97-AF65-F5344CB8AC3E}">
        <p14:creationId xmlns:p14="http://schemas.microsoft.com/office/powerpoint/2010/main" val="2492640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6E03-CA08-4E2C-B03D-34C32B72AFDF}"/>
              </a:ext>
            </a:extLst>
          </p:cNvPr>
          <p:cNvSpPr>
            <a:spLocks noGrp="1"/>
          </p:cNvSpPr>
          <p:nvPr>
            <p:ph type="title"/>
          </p:nvPr>
        </p:nvSpPr>
        <p:spPr>
          <a:xfrm>
            <a:off x="913796" y="95624"/>
            <a:ext cx="10353761" cy="1326321"/>
          </a:xfrm>
        </p:spPr>
        <p:txBody>
          <a:bodyPr/>
          <a:lstStyle/>
          <a:p>
            <a:r>
              <a:rPr lang="en-GB" dirty="0"/>
              <a:t>Interpolating data </a:t>
            </a:r>
          </a:p>
        </p:txBody>
      </p:sp>
      <p:sp>
        <p:nvSpPr>
          <p:cNvPr id="3" name="Content Placeholder 2">
            <a:extLst>
              <a:ext uri="{FF2B5EF4-FFF2-40B4-BE49-F238E27FC236}">
                <a16:creationId xmlns:a16="http://schemas.microsoft.com/office/drawing/2014/main" id="{531A166F-A161-408C-A6D4-FC751AF8C403}"/>
              </a:ext>
            </a:extLst>
          </p:cNvPr>
          <p:cNvSpPr>
            <a:spLocks noGrp="1"/>
          </p:cNvSpPr>
          <p:nvPr>
            <p:ph idx="1"/>
          </p:nvPr>
        </p:nvSpPr>
        <p:spPr>
          <a:xfrm>
            <a:off x="913795" y="1181799"/>
            <a:ext cx="10353762" cy="3695136"/>
          </a:xfrm>
        </p:spPr>
        <p:txBody>
          <a:bodyPr>
            <a:normAutofit/>
          </a:bodyPr>
          <a:lstStyle/>
          <a:p>
            <a:r>
              <a:rPr lang="en-GB" sz="1600" dirty="0"/>
              <a:t>Assume downforce is constant, using figure at 150mph for both cars(this figure is quoted by many manufacturers although not all); as downforce increases with the square of  </a:t>
            </a:r>
            <a:r>
              <a:rPr lang="en-GB" sz="1600" dirty="0" err="1"/>
              <a:t>velocty</a:t>
            </a:r>
            <a:r>
              <a:rPr lang="en-GB" sz="1600" dirty="0"/>
              <a:t> we calculated the approximate downforce of the Bugatti to be (150</a:t>
            </a:r>
            <a:r>
              <a:rPr lang="en-GB" sz="1600" b="0" i="0" dirty="0">
                <a:effectLst/>
                <a:latin typeface="ProximaNovaBold"/>
              </a:rPr>
              <a:t>²</a:t>
            </a:r>
            <a:r>
              <a:rPr lang="en-GB" sz="1600" dirty="0"/>
              <a:t> / 250</a:t>
            </a:r>
            <a:r>
              <a:rPr lang="en-GB" sz="1600" b="0" i="0" dirty="0">
                <a:effectLst/>
                <a:latin typeface="ProximaNovaBold"/>
              </a:rPr>
              <a:t>²)x(3924)=1412.64N</a:t>
            </a:r>
          </a:p>
          <a:p>
            <a:r>
              <a:rPr lang="en-GB" sz="1600" dirty="0">
                <a:effectLst/>
                <a:latin typeface="ProximaNovaBold"/>
              </a:rPr>
              <a:t>To create a velocity time graph for each car we used the given data points relating speed and time and used a calculator to create a logarithmic regression equation for each car as the velocity time graph of a car typically follows a path similar to a logarithmic curve. Although a limitation for this method is neither of the graphs pass through the origin meaning the data is most likely getting increasingly inaccurate at slower speeds. </a:t>
            </a:r>
          </a:p>
          <a:p>
            <a:r>
              <a:rPr lang="en-GB" sz="1600" dirty="0">
                <a:effectLst/>
                <a:latin typeface="ProximaNovaBold"/>
              </a:rPr>
              <a:t>The blue line represents the Dodge Viper and the red represents the Bugatti showing a sizeable difference in acceleration.</a:t>
            </a:r>
            <a:endParaRPr lang="en-GB" sz="1600" dirty="0"/>
          </a:p>
        </p:txBody>
      </p:sp>
      <p:pic>
        <p:nvPicPr>
          <p:cNvPr id="5" name="Picture 4">
            <a:extLst>
              <a:ext uri="{FF2B5EF4-FFF2-40B4-BE49-F238E27FC236}">
                <a16:creationId xmlns:a16="http://schemas.microsoft.com/office/drawing/2014/main" id="{2AFC9C68-4523-448D-917D-1576491BDE4C}"/>
              </a:ext>
            </a:extLst>
          </p:cNvPr>
          <p:cNvPicPr>
            <a:picLocks noChangeAspect="1"/>
          </p:cNvPicPr>
          <p:nvPr/>
        </p:nvPicPr>
        <p:blipFill>
          <a:blip r:embed="rId2"/>
          <a:stretch>
            <a:fillRect/>
          </a:stretch>
        </p:blipFill>
        <p:spPr>
          <a:xfrm>
            <a:off x="1300643" y="4153925"/>
            <a:ext cx="6029498" cy="2516118"/>
          </a:xfrm>
          <a:prstGeom prst="rect">
            <a:avLst/>
          </a:prstGeom>
        </p:spPr>
      </p:pic>
      <p:sp>
        <p:nvSpPr>
          <p:cNvPr id="6" name="TextBox 5">
            <a:extLst>
              <a:ext uri="{FF2B5EF4-FFF2-40B4-BE49-F238E27FC236}">
                <a16:creationId xmlns:a16="http://schemas.microsoft.com/office/drawing/2014/main" id="{17586459-61E6-4750-91C0-8BB8C9B58996}"/>
              </a:ext>
            </a:extLst>
          </p:cNvPr>
          <p:cNvSpPr txBox="1"/>
          <p:nvPr/>
        </p:nvSpPr>
        <p:spPr>
          <a:xfrm>
            <a:off x="3123522" y="3946249"/>
            <a:ext cx="603624" cy="246221"/>
          </a:xfrm>
          <a:prstGeom prst="rect">
            <a:avLst/>
          </a:prstGeom>
          <a:noFill/>
        </p:spPr>
        <p:txBody>
          <a:bodyPr wrap="square" rtlCol="0">
            <a:spAutoFit/>
          </a:bodyPr>
          <a:lstStyle/>
          <a:p>
            <a:r>
              <a:rPr lang="en-GB" sz="1000" dirty="0"/>
              <a:t>V(m/s)</a:t>
            </a:r>
          </a:p>
        </p:txBody>
      </p:sp>
      <p:sp>
        <p:nvSpPr>
          <p:cNvPr id="7" name="TextBox 6">
            <a:extLst>
              <a:ext uri="{FF2B5EF4-FFF2-40B4-BE49-F238E27FC236}">
                <a16:creationId xmlns:a16="http://schemas.microsoft.com/office/drawing/2014/main" id="{A08D1C7A-7DF9-4088-A28B-47338B4100A3}"/>
              </a:ext>
            </a:extLst>
          </p:cNvPr>
          <p:cNvSpPr txBox="1"/>
          <p:nvPr/>
        </p:nvSpPr>
        <p:spPr>
          <a:xfrm>
            <a:off x="7358832" y="6393044"/>
            <a:ext cx="1296894" cy="276999"/>
          </a:xfrm>
          <a:prstGeom prst="rect">
            <a:avLst/>
          </a:prstGeom>
          <a:noFill/>
        </p:spPr>
        <p:txBody>
          <a:bodyPr wrap="square" rtlCol="0">
            <a:spAutoFit/>
          </a:bodyPr>
          <a:lstStyle/>
          <a:p>
            <a:r>
              <a:rPr lang="en-GB" sz="1200" dirty="0"/>
              <a:t>t(seconds)</a:t>
            </a:r>
          </a:p>
        </p:txBody>
      </p:sp>
    </p:spTree>
    <p:extLst>
      <p:ext uri="{BB962C8B-B14F-4D97-AF65-F5344CB8AC3E}">
        <p14:creationId xmlns:p14="http://schemas.microsoft.com/office/powerpoint/2010/main" val="2768083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2AE5-DA79-46CD-B263-ACEA75D2C5B4}"/>
              </a:ext>
            </a:extLst>
          </p:cNvPr>
          <p:cNvSpPr>
            <a:spLocks noGrp="1"/>
          </p:cNvSpPr>
          <p:nvPr>
            <p:ph type="title"/>
          </p:nvPr>
        </p:nvSpPr>
        <p:spPr>
          <a:xfrm>
            <a:off x="913796" y="53788"/>
            <a:ext cx="10353761" cy="1326321"/>
          </a:xfrm>
        </p:spPr>
        <p:txBody>
          <a:bodyPr/>
          <a:lstStyle/>
          <a:p>
            <a:r>
              <a:rPr lang="en-GB" dirty="0"/>
              <a:t>Calculating cornering speed </a:t>
            </a:r>
          </a:p>
        </p:txBody>
      </p:sp>
      <p:sp>
        <p:nvSpPr>
          <p:cNvPr id="3" name="Content Placeholder 2">
            <a:extLst>
              <a:ext uri="{FF2B5EF4-FFF2-40B4-BE49-F238E27FC236}">
                <a16:creationId xmlns:a16="http://schemas.microsoft.com/office/drawing/2014/main" id="{218D0F00-0BFE-463C-98C7-A6FC146FEF41}"/>
              </a:ext>
            </a:extLst>
          </p:cNvPr>
          <p:cNvSpPr>
            <a:spLocks noGrp="1"/>
          </p:cNvSpPr>
          <p:nvPr>
            <p:ph idx="1"/>
          </p:nvPr>
        </p:nvSpPr>
        <p:spPr>
          <a:xfrm>
            <a:off x="782312" y="912723"/>
            <a:ext cx="10353762" cy="3695136"/>
          </a:xfrm>
        </p:spPr>
        <p:txBody>
          <a:bodyPr/>
          <a:lstStyle/>
          <a:p>
            <a:r>
              <a:rPr lang="en-GB" dirty="0"/>
              <a:t>Assume tyres used are the same across all cars (coefficient of friction=1)</a:t>
            </a:r>
          </a:p>
          <a:p>
            <a:r>
              <a:rPr lang="en-GB" dirty="0"/>
              <a:t>Assume braking is instant and speed is constant throughout a corner.</a:t>
            </a:r>
          </a:p>
          <a:p>
            <a:r>
              <a:rPr lang="en-GB" dirty="0"/>
              <a:t>Assume all corners are flat (no banking and no elevation changes).</a:t>
            </a:r>
          </a:p>
          <a:p>
            <a:endParaRPr lang="en-GB" dirty="0"/>
          </a:p>
        </p:txBody>
      </p:sp>
      <p:pic>
        <p:nvPicPr>
          <p:cNvPr id="7" name="Picture 6">
            <a:extLst>
              <a:ext uri="{FF2B5EF4-FFF2-40B4-BE49-F238E27FC236}">
                <a16:creationId xmlns:a16="http://schemas.microsoft.com/office/drawing/2014/main" id="{989ABCD4-5B74-44E6-8AC0-27CA4EB4AB38}"/>
              </a:ext>
            </a:extLst>
          </p:cNvPr>
          <p:cNvPicPr>
            <a:picLocks noChangeAspect="1"/>
          </p:cNvPicPr>
          <p:nvPr/>
        </p:nvPicPr>
        <p:blipFill>
          <a:blip r:embed="rId2"/>
          <a:stretch>
            <a:fillRect/>
          </a:stretch>
        </p:blipFill>
        <p:spPr>
          <a:xfrm>
            <a:off x="144048" y="2649071"/>
            <a:ext cx="5456512" cy="3917576"/>
          </a:xfrm>
          <a:prstGeom prst="rect">
            <a:avLst/>
          </a:prstGeom>
        </p:spPr>
      </p:pic>
      <p:pic>
        <p:nvPicPr>
          <p:cNvPr id="9" name="Picture 8">
            <a:extLst>
              <a:ext uri="{FF2B5EF4-FFF2-40B4-BE49-F238E27FC236}">
                <a16:creationId xmlns:a16="http://schemas.microsoft.com/office/drawing/2014/main" id="{B8048F92-72D9-44D2-A722-928B6CAF03D4}"/>
              </a:ext>
            </a:extLst>
          </p:cNvPr>
          <p:cNvPicPr>
            <a:picLocks noChangeAspect="1"/>
          </p:cNvPicPr>
          <p:nvPr/>
        </p:nvPicPr>
        <p:blipFill>
          <a:blip r:embed="rId3"/>
          <a:stretch>
            <a:fillRect/>
          </a:stretch>
        </p:blipFill>
        <p:spPr>
          <a:xfrm>
            <a:off x="5667388" y="2695389"/>
            <a:ext cx="6311354" cy="3824940"/>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8BEED3A-267F-4648-975E-7423F0497786}"/>
                  </a:ext>
                </a:extLst>
              </p14:cNvPr>
              <p14:cNvContentPartPr/>
              <p14:nvPr/>
            </p14:nvContentPartPr>
            <p14:xfrm>
              <a:off x="8116600" y="2760062"/>
              <a:ext cx="2882520" cy="628200"/>
            </p14:xfrm>
          </p:contentPart>
        </mc:Choice>
        <mc:Fallback>
          <p:pic>
            <p:nvPicPr>
              <p:cNvPr id="4" name="Ink 3">
                <a:extLst>
                  <a:ext uri="{FF2B5EF4-FFF2-40B4-BE49-F238E27FC236}">
                    <a16:creationId xmlns:a16="http://schemas.microsoft.com/office/drawing/2014/main" id="{88BEED3A-267F-4648-975E-7423F0497786}"/>
                  </a:ext>
                </a:extLst>
              </p:cNvPr>
              <p:cNvPicPr/>
              <p:nvPr/>
            </p:nvPicPr>
            <p:blipFill>
              <a:blip r:embed="rId5"/>
              <a:stretch>
                <a:fillRect/>
              </a:stretch>
            </p:blipFill>
            <p:spPr>
              <a:xfrm>
                <a:off x="8107600" y="2751422"/>
                <a:ext cx="2900160" cy="645840"/>
              </a:xfrm>
              <a:prstGeom prst="rect">
                <a:avLst/>
              </a:prstGeom>
            </p:spPr>
          </p:pic>
        </mc:Fallback>
      </mc:AlternateContent>
    </p:spTree>
    <p:extLst>
      <p:ext uri="{BB962C8B-B14F-4D97-AF65-F5344CB8AC3E}">
        <p14:creationId xmlns:p14="http://schemas.microsoft.com/office/powerpoint/2010/main" val="3456765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4483-3C45-47E4-A4A3-F050749458D3}"/>
              </a:ext>
            </a:extLst>
          </p:cNvPr>
          <p:cNvSpPr>
            <a:spLocks noGrp="1"/>
          </p:cNvSpPr>
          <p:nvPr>
            <p:ph type="title"/>
          </p:nvPr>
        </p:nvSpPr>
        <p:spPr>
          <a:xfrm>
            <a:off x="752430" y="65741"/>
            <a:ext cx="10353761" cy="1326321"/>
          </a:xfrm>
        </p:spPr>
        <p:txBody>
          <a:bodyPr/>
          <a:lstStyle/>
          <a:p>
            <a:r>
              <a:rPr lang="en-GB" dirty="0"/>
              <a:t>Calculating straight line speed</a:t>
            </a:r>
          </a:p>
        </p:txBody>
      </p:sp>
      <p:sp>
        <p:nvSpPr>
          <p:cNvPr id="3" name="Content Placeholder 2">
            <a:extLst>
              <a:ext uri="{FF2B5EF4-FFF2-40B4-BE49-F238E27FC236}">
                <a16:creationId xmlns:a16="http://schemas.microsoft.com/office/drawing/2014/main" id="{D8ACF290-4E0D-4D0D-8649-A102C1BBC997}"/>
              </a:ext>
            </a:extLst>
          </p:cNvPr>
          <p:cNvSpPr>
            <a:spLocks noGrp="1"/>
          </p:cNvSpPr>
          <p:nvPr>
            <p:ph idx="1"/>
          </p:nvPr>
        </p:nvSpPr>
        <p:spPr>
          <a:xfrm>
            <a:off x="858987" y="950212"/>
            <a:ext cx="10353762" cy="3695136"/>
          </a:xfrm>
        </p:spPr>
        <p:txBody>
          <a:bodyPr/>
          <a:lstStyle/>
          <a:p>
            <a:r>
              <a:rPr lang="en-GB" dirty="0"/>
              <a:t>By assuming braking is instant, as a result the straight line acceleration sections are longer than they would be in the real world.</a:t>
            </a:r>
          </a:p>
          <a:p>
            <a:r>
              <a:rPr lang="en-GB" dirty="0"/>
              <a:t>Also assumed no elevation changes for </a:t>
            </a:r>
            <a:r>
              <a:rPr lang="en-GB"/>
              <a:t>straight sections.</a:t>
            </a:r>
            <a:endParaRPr lang="en-GB" dirty="0"/>
          </a:p>
        </p:txBody>
      </p:sp>
      <p:pic>
        <p:nvPicPr>
          <p:cNvPr id="5" name="Picture 4">
            <a:extLst>
              <a:ext uri="{FF2B5EF4-FFF2-40B4-BE49-F238E27FC236}">
                <a16:creationId xmlns:a16="http://schemas.microsoft.com/office/drawing/2014/main" id="{4E38568B-648C-4C2E-8BBF-43EE07824239}"/>
              </a:ext>
            </a:extLst>
          </p:cNvPr>
          <p:cNvPicPr>
            <a:picLocks noChangeAspect="1"/>
          </p:cNvPicPr>
          <p:nvPr/>
        </p:nvPicPr>
        <p:blipFill>
          <a:blip r:embed="rId2"/>
          <a:stretch>
            <a:fillRect/>
          </a:stretch>
        </p:blipFill>
        <p:spPr>
          <a:xfrm>
            <a:off x="195881" y="2397220"/>
            <a:ext cx="5189937" cy="4216400"/>
          </a:xfrm>
          <a:prstGeom prst="rect">
            <a:avLst/>
          </a:prstGeom>
        </p:spPr>
      </p:pic>
      <p:pic>
        <p:nvPicPr>
          <p:cNvPr id="7" name="Picture 6">
            <a:extLst>
              <a:ext uri="{FF2B5EF4-FFF2-40B4-BE49-F238E27FC236}">
                <a16:creationId xmlns:a16="http://schemas.microsoft.com/office/drawing/2014/main" id="{9CA0DAD4-52C2-4765-B7B5-69EC01F700A7}"/>
              </a:ext>
            </a:extLst>
          </p:cNvPr>
          <p:cNvPicPr>
            <a:picLocks noChangeAspect="1"/>
          </p:cNvPicPr>
          <p:nvPr/>
        </p:nvPicPr>
        <p:blipFill>
          <a:blip r:embed="rId3"/>
          <a:stretch>
            <a:fillRect/>
          </a:stretch>
        </p:blipFill>
        <p:spPr>
          <a:xfrm>
            <a:off x="5492376" y="2380014"/>
            <a:ext cx="5998579" cy="2973592"/>
          </a:xfrm>
          <a:prstGeom prst="rect">
            <a:avLst/>
          </a:prstGeom>
        </p:spPr>
      </p:pic>
    </p:spTree>
    <p:extLst>
      <p:ext uri="{BB962C8B-B14F-4D97-AF65-F5344CB8AC3E}">
        <p14:creationId xmlns:p14="http://schemas.microsoft.com/office/powerpoint/2010/main" val="60197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AF722-FD50-487F-8117-C416B7597F35}"/>
              </a:ext>
            </a:extLst>
          </p:cNvPr>
          <p:cNvSpPr>
            <a:spLocks noGrp="1"/>
          </p:cNvSpPr>
          <p:nvPr>
            <p:ph type="title"/>
          </p:nvPr>
        </p:nvSpPr>
        <p:spPr>
          <a:xfrm>
            <a:off x="913795" y="119529"/>
            <a:ext cx="10353761" cy="1326321"/>
          </a:xfrm>
        </p:spPr>
        <p:txBody>
          <a:bodyPr/>
          <a:lstStyle/>
          <a:p>
            <a:r>
              <a:rPr lang="en-GB" dirty="0"/>
              <a:t>Keeping track of data</a:t>
            </a:r>
          </a:p>
        </p:txBody>
      </p:sp>
      <p:sp>
        <p:nvSpPr>
          <p:cNvPr id="3" name="Content Placeholder 2">
            <a:extLst>
              <a:ext uri="{FF2B5EF4-FFF2-40B4-BE49-F238E27FC236}">
                <a16:creationId xmlns:a16="http://schemas.microsoft.com/office/drawing/2014/main" id="{BAD6204A-6FB2-45E4-9A12-0185EA120366}"/>
              </a:ext>
            </a:extLst>
          </p:cNvPr>
          <p:cNvSpPr>
            <a:spLocks noGrp="1"/>
          </p:cNvSpPr>
          <p:nvPr>
            <p:ph idx="1"/>
          </p:nvPr>
        </p:nvSpPr>
        <p:spPr>
          <a:xfrm>
            <a:off x="924443" y="1325100"/>
            <a:ext cx="10353762" cy="3695136"/>
          </a:xfrm>
        </p:spPr>
        <p:txBody>
          <a:bodyPr/>
          <a:lstStyle/>
          <a:p>
            <a:r>
              <a:rPr lang="en-GB" dirty="0"/>
              <a:t>Used spreadsheets to keep track of the data for straight line and cornering performance for each car separately before combining everything together</a:t>
            </a:r>
          </a:p>
          <a:p>
            <a:r>
              <a:rPr lang="en-GB" dirty="0"/>
              <a:t>According to this model the Dodge Viper is 4.77 seconds quicker around the corners overall while the Bugatti shines on the straight lines, outperforming the Viper by 5.61 seconds on the straight line sections</a:t>
            </a:r>
          </a:p>
        </p:txBody>
      </p:sp>
      <p:pic>
        <p:nvPicPr>
          <p:cNvPr id="5" name="Picture 4">
            <a:extLst>
              <a:ext uri="{FF2B5EF4-FFF2-40B4-BE49-F238E27FC236}">
                <a16:creationId xmlns:a16="http://schemas.microsoft.com/office/drawing/2014/main" id="{B9202FBF-C984-4D0B-8FD8-70F671719CC7}"/>
              </a:ext>
            </a:extLst>
          </p:cNvPr>
          <p:cNvPicPr>
            <a:picLocks noChangeAspect="1"/>
          </p:cNvPicPr>
          <p:nvPr/>
        </p:nvPicPr>
        <p:blipFill>
          <a:blip r:embed="rId2"/>
          <a:stretch>
            <a:fillRect/>
          </a:stretch>
        </p:blipFill>
        <p:spPr>
          <a:xfrm>
            <a:off x="846648" y="3282243"/>
            <a:ext cx="9964788" cy="3475985"/>
          </a:xfrm>
          <a:prstGeom prst="rect">
            <a:avLst/>
          </a:prstGeom>
        </p:spPr>
      </p:pic>
    </p:spTree>
    <p:extLst>
      <p:ext uri="{BB962C8B-B14F-4D97-AF65-F5344CB8AC3E}">
        <p14:creationId xmlns:p14="http://schemas.microsoft.com/office/powerpoint/2010/main" val="368064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4C9C-7278-4990-9FDB-F627B059E4ED}"/>
              </a:ext>
            </a:extLst>
          </p:cNvPr>
          <p:cNvSpPr>
            <a:spLocks noGrp="1"/>
          </p:cNvSpPr>
          <p:nvPr>
            <p:ph type="title"/>
          </p:nvPr>
        </p:nvSpPr>
        <p:spPr/>
        <p:txBody>
          <a:bodyPr/>
          <a:lstStyle/>
          <a:p>
            <a:r>
              <a:rPr lang="en-GB" dirty="0"/>
              <a:t>Comparison to real life</a:t>
            </a:r>
          </a:p>
        </p:txBody>
      </p:sp>
      <p:sp>
        <p:nvSpPr>
          <p:cNvPr id="3" name="Content Placeholder 2">
            <a:extLst>
              <a:ext uri="{FF2B5EF4-FFF2-40B4-BE49-F238E27FC236}">
                <a16:creationId xmlns:a16="http://schemas.microsoft.com/office/drawing/2014/main" id="{CEF365F4-42BB-4E4A-AD65-826059AE3D96}"/>
              </a:ext>
            </a:extLst>
          </p:cNvPr>
          <p:cNvSpPr>
            <a:spLocks noGrp="1"/>
          </p:cNvSpPr>
          <p:nvPr>
            <p:ph idx="1"/>
          </p:nvPr>
        </p:nvSpPr>
        <p:spPr>
          <a:xfrm>
            <a:off x="913794" y="2096064"/>
            <a:ext cx="10353762" cy="3695136"/>
          </a:xfrm>
        </p:spPr>
        <p:txBody>
          <a:bodyPr/>
          <a:lstStyle/>
          <a:p>
            <a:r>
              <a:rPr lang="en-GB" dirty="0"/>
              <a:t>According to my model, as seen on the excel spreadsheet, the Dodge Viper  managed a simulated lap time of 1:30.65 which is only 2 seconds off or a 2.26% difference from the 1:28.65 time achieved in the real world. </a:t>
            </a:r>
          </a:p>
          <a:p>
            <a:r>
              <a:rPr lang="en-GB" dirty="0"/>
              <a:t>A reason for this could be I make the assumption all cars use the same tyres and have a frictional coefficient of 1 (in order to have a much more even comparison) whereas the Viper’s original tyres are much stickier and manage a coefficient of 1.15. In addition to this is the fact that this model assumes cornering speed is constant throughout.</a:t>
            </a:r>
          </a:p>
        </p:txBody>
      </p:sp>
      <p:pic>
        <p:nvPicPr>
          <p:cNvPr id="5" name="Picture 4">
            <a:extLst>
              <a:ext uri="{FF2B5EF4-FFF2-40B4-BE49-F238E27FC236}">
                <a16:creationId xmlns:a16="http://schemas.microsoft.com/office/drawing/2014/main" id="{C6111A2F-AD29-4247-A09B-A16448BF7160}"/>
              </a:ext>
            </a:extLst>
          </p:cNvPr>
          <p:cNvPicPr>
            <a:picLocks noChangeAspect="1"/>
          </p:cNvPicPr>
          <p:nvPr/>
        </p:nvPicPr>
        <p:blipFill>
          <a:blip r:embed="rId2"/>
          <a:stretch>
            <a:fillRect/>
          </a:stretch>
        </p:blipFill>
        <p:spPr>
          <a:xfrm>
            <a:off x="3143828" y="4922080"/>
            <a:ext cx="8305800" cy="1600200"/>
          </a:xfrm>
          <a:prstGeom prst="rect">
            <a:avLst/>
          </a:prstGeom>
        </p:spPr>
      </p:pic>
    </p:spTree>
    <p:extLst>
      <p:ext uri="{BB962C8B-B14F-4D97-AF65-F5344CB8AC3E}">
        <p14:creationId xmlns:p14="http://schemas.microsoft.com/office/powerpoint/2010/main" val="4038107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F6742-80BF-4731-8BCC-ECC0C95D155E}"/>
              </a:ext>
            </a:extLst>
          </p:cNvPr>
          <p:cNvSpPr>
            <a:spLocks noGrp="1"/>
          </p:cNvSpPr>
          <p:nvPr>
            <p:ph type="title"/>
          </p:nvPr>
        </p:nvSpPr>
        <p:spPr>
          <a:xfrm>
            <a:off x="913796" y="119530"/>
            <a:ext cx="10353761" cy="1326321"/>
          </a:xfrm>
        </p:spPr>
        <p:txBody>
          <a:bodyPr/>
          <a:lstStyle/>
          <a:p>
            <a:r>
              <a:rPr lang="en-GB" dirty="0"/>
              <a:t>Overall comparison of the 2 cars</a:t>
            </a:r>
          </a:p>
        </p:txBody>
      </p:sp>
      <p:sp>
        <p:nvSpPr>
          <p:cNvPr id="3" name="Content Placeholder 2">
            <a:extLst>
              <a:ext uri="{FF2B5EF4-FFF2-40B4-BE49-F238E27FC236}">
                <a16:creationId xmlns:a16="http://schemas.microsoft.com/office/drawing/2014/main" id="{A17568C5-57DE-48E1-AED2-D8EE0AAEAF3D}"/>
              </a:ext>
            </a:extLst>
          </p:cNvPr>
          <p:cNvSpPr>
            <a:spLocks noGrp="1"/>
          </p:cNvSpPr>
          <p:nvPr>
            <p:ph idx="1"/>
          </p:nvPr>
        </p:nvSpPr>
        <p:spPr>
          <a:xfrm>
            <a:off x="913796" y="1445851"/>
            <a:ext cx="10353762" cy="3695136"/>
          </a:xfrm>
        </p:spPr>
        <p:txBody>
          <a:bodyPr/>
          <a:lstStyle/>
          <a:p>
            <a:r>
              <a:rPr lang="en-GB" dirty="0"/>
              <a:t>Laps are simulated as rolling start hot laps; can simulate a head to head race by either setting the initial velocity of straight line equal for both cars or by setting both to 0 to simulate a standing start, where, in this case the times would be much closer.</a:t>
            </a:r>
          </a:p>
          <a:p>
            <a:r>
              <a:rPr lang="en-GB" dirty="0"/>
              <a:t>This is how we compare different cars at different tracks where we can review performance at specific sectors of the track</a:t>
            </a:r>
          </a:p>
        </p:txBody>
      </p:sp>
      <p:pic>
        <p:nvPicPr>
          <p:cNvPr id="5" name="Picture 4">
            <a:extLst>
              <a:ext uri="{FF2B5EF4-FFF2-40B4-BE49-F238E27FC236}">
                <a16:creationId xmlns:a16="http://schemas.microsoft.com/office/drawing/2014/main" id="{22313E22-264D-4718-8691-4FC66E9E0C32}"/>
              </a:ext>
            </a:extLst>
          </p:cNvPr>
          <p:cNvPicPr>
            <a:picLocks noChangeAspect="1"/>
          </p:cNvPicPr>
          <p:nvPr/>
        </p:nvPicPr>
        <p:blipFill>
          <a:blip r:embed="rId2"/>
          <a:stretch>
            <a:fillRect/>
          </a:stretch>
        </p:blipFill>
        <p:spPr>
          <a:xfrm>
            <a:off x="80411" y="3482716"/>
            <a:ext cx="11945334" cy="3195765"/>
          </a:xfrm>
          <a:prstGeom prst="rect">
            <a:avLst/>
          </a:prstGeom>
        </p:spPr>
      </p:pic>
    </p:spTree>
    <p:extLst>
      <p:ext uri="{BB962C8B-B14F-4D97-AF65-F5344CB8AC3E}">
        <p14:creationId xmlns:p14="http://schemas.microsoft.com/office/powerpoint/2010/main" val="3577550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0118-D98A-4B39-8FB6-1DDA08299C63}"/>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F8857720-6CDD-4E1B-80CA-52AE705BD064}"/>
              </a:ext>
            </a:extLst>
          </p:cNvPr>
          <p:cNvSpPr>
            <a:spLocks noGrp="1"/>
          </p:cNvSpPr>
          <p:nvPr>
            <p:ph idx="1"/>
          </p:nvPr>
        </p:nvSpPr>
        <p:spPr/>
        <p:txBody>
          <a:bodyPr/>
          <a:lstStyle/>
          <a:p>
            <a:r>
              <a:rPr lang="en-GB" dirty="0"/>
              <a:t>I believe this project to be a success; although the times I estimate are slightly different from what has been achieved in real life which affects my predictions of unrecorded times,  the variation is only a few percentage points (under 5%) off.</a:t>
            </a:r>
          </a:p>
          <a:p>
            <a:r>
              <a:rPr lang="en-GB" dirty="0"/>
              <a:t>This has enabled me to compare the performance of different cars at different tracks under the same circumstances (</a:t>
            </a:r>
            <a:r>
              <a:rPr lang="en-GB" dirty="0" err="1"/>
              <a:t>eg</a:t>
            </a:r>
            <a:r>
              <a:rPr lang="en-GB" dirty="0"/>
              <a:t> same tyres), given just a few different specs, most of which </a:t>
            </a:r>
            <a:r>
              <a:rPr lang="en-GB"/>
              <a:t>are easy to find.</a:t>
            </a:r>
            <a:endParaRPr lang="en-GB" dirty="0"/>
          </a:p>
        </p:txBody>
      </p:sp>
    </p:spTree>
    <p:extLst>
      <p:ext uri="{BB962C8B-B14F-4D97-AF65-F5344CB8AC3E}">
        <p14:creationId xmlns:p14="http://schemas.microsoft.com/office/powerpoint/2010/main" val="3050911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422</TotalTime>
  <Words>1042</Words>
  <Application>Microsoft Office PowerPoint</Application>
  <PresentationFormat>Widescreen</PresentationFormat>
  <Paragraphs>73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Bookman Old Style</vt:lpstr>
      <vt:lpstr>Calibri</vt:lpstr>
      <vt:lpstr>ProximaNovaBold</vt:lpstr>
      <vt:lpstr>Rockwell</vt:lpstr>
      <vt:lpstr>Damask</vt:lpstr>
      <vt:lpstr>Objectively quantifying car performance on track</vt:lpstr>
      <vt:lpstr>Motivation behind project</vt:lpstr>
      <vt:lpstr>Gathering Racetrack data</vt:lpstr>
      <vt:lpstr>Example: Laguna seca</vt:lpstr>
      <vt:lpstr>Measuring corners and straights</vt:lpstr>
      <vt:lpstr>Gathering Car data</vt:lpstr>
      <vt:lpstr>Interpolating data </vt:lpstr>
      <vt:lpstr>Calculating cornering speed </vt:lpstr>
      <vt:lpstr>Calculating straight line speed</vt:lpstr>
      <vt:lpstr>Keeping track of data</vt:lpstr>
      <vt:lpstr>Comparison to real life</vt:lpstr>
      <vt:lpstr>Overall comparison of the 2 cars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Objectively quantifying car performance on track</dc:title>
  <dc:creator>Nass Abdullah</dc:creator>
  <cp:lastModifiedBy>Nass Abdullah</cp:lastModifiedBy>
  <cp:revision>6</cp:revision>
  <dcterms:created xsi:type="dcterms:W3CDTF">2021-12-10T03:20:54Z</dcterms:created>
  <dcterms:modified xsi:type="dcterms:W3CDTF">2021-12-12T19:39:27Z</dcterms:modified>
</cp:coreProperties>
</file>